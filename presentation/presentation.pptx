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0" r:id="rId27"/>
    <p:sldId id="284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AD5A8-C99B-4B38-8D1D-E8BF0DFEFB15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DB136-E31B-491E-8ED2-0F848D386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8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1DB136-E31B-491E-8ED2-0F848D3869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1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15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9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9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1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6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7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0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1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43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3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5B531-9902-45B2-AADE-5FC971709003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F415D-DC1F-44F3-BE0D-569994917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Income Prediction</a:t>
            </a:r>
            <a:br>
              <a:rPr lang="en-US" dirty="0" smtClean="0"/>
            </a:br>
            <a:r>
              <a:rPr lang="en-US" sz="4800" dirty="0" smtClean="0"/>
              <a:t>binary classification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29748"/>
            <a:ext cx="9144000" cy="1655762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 err="1" smtClean="0"/>
              <a:t>Babak</a:t>
            </a:r>
            <a:r>
              <a:rPr lang="en-US" dirty="0" smtClean="0"/>
              <a:t> </a:t>
            </a:r>
            <a:r>
              <a:rPr lang="en-US" dirty="0" err="1" smtClean="0"/>
              <a:t>Mehrabi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4399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/>
              <a:t>Introduction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Data Analysis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, FNN)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3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Task: Predict whether a person’s income is over 50K/year or not based on different features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48842 records with 14 features and 1 response variable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66% taken as train data, 33% as test data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Unbalanced binary classification problem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992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56" y="2004277"/>
            <a:ext cx="10244344" cy="2029544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289" y="4347410"/>
            <a:ext cx="7387511" cy="185108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Introduction: A peek into the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909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Analysis (steps)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Variable </a:t>
            </a:r>
            <a:r>
              <a:rPr lang="en-US" dirty="0"/>
              <a:t>I</a:t>
            </a:r>
            <a:r>
              <a:rPr lang="en-US" dirty="0" smtClean="0"/>
              <a:t>dentification (for ex. categorical or numerical etc.)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Analysis of Missing Values (</a:t>
            </a:r>
            <a:r>
              <a:rPr lang="en-US" dirty="0" err="1" smtClean="0"/>
              <a:t>NaNs</a:t>
            </a:r>
            <a:r>
              <a:rPr lang="en-US" dirty="0" smtClean="0"/>
              <a:t>)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Data </a:t>
            </a:r>
            <a:r>
              <a:rPr lang="en-US" dirty="0"/>
              <a:t>C</a:t>
            </a:r>
            <a:r>
              <a:rPr lang="en-US" dirty="0" smtClean="0"/>
              <a:t>leaning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Univariate EDA (exploratory data analysis)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Bivariate EDA (correlations, chi-2 test)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Feature Engineering &amp; Selection Ideas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86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Identification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849" y="1945456"/>
            <a:ext cx="3582216" cy="3887086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45" y="1945456"/>
            <a:ext cx="3467890" cy="3887086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353144" y="4074694"/>
            <a:ext cx="1710898" cy="44917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256295" y="1945456"/>
            <a:ext cx="2711116" cy="328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education_num</a:t>
            </a:r>
            <a:r>
              <a:rPr lang="en-US" sz="2000" dirty="0" smtClean="0"/>
              <a:t> can be considered as a categorical variable too, depending on the model whether it is tree-based (Random Forest, </a:t>
            </a:r>
            <a:r>
              <a:rPr lang="en-US" sz="2000" dirty="0" err="1" smtClean="0"/>
              <a:t>xgboost</a:t>
            </a:r>
            <a:r>
              <a:rPr lang="en-US" sz="2000" dirty="0" smtClean="0"/>
              <a:t>) or linear-based (logistic regression, neural networks)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4597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Missing values and data cleaning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There were no missing values in form of </a:t>
            </a:r>
            <a:r>
              <a:rPr lang="en-US" dirty="0" err="1" smtClean="0"/>
              <a:t>NaNs</a:t>
            </a:r>
            <a:r>
              <a:rPr lang="en-US" dirty="0" smtClean="0"/>
              <a:t>, however there are missing values in form of “?”, which is not a problem for tree-based models as they can be treated as a level.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For linear-based models we can dummy-encode them, and they still create no issue, as their lack is also a kind of information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There were 30 duplicated rows in the whole data, which were dropped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8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Univariate EDA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Barplots</a:t>
            </a:r>
            <a:r>
              <a:rPr lang="en-US" dirty="0" smtClean="0"/>
              <a:t> for categorical features wherein counts for both train &amp; test datasets are shown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This is important because we can find out if there is a major difference between the distribution of variables among train and test datasets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Histograms and density functions for numerical features</a:t>
            </a:r>
          </a:p>
          <a:p>
            <a:pPr>
              <a:lnSpc>
                <a:spcPct val="150000"/>
              </a:lnSpc>
            </a:pPr>
            <a:r>
              <a:rPr lang="en-US" dirty="0"/>
              <a:t>dispersion plot for numerical features vs the row </a:t>
            </a:r>
            <a:r>
              <a:rPr lang="en-US" dirty="0" smtClean="0"/>
              <a:t>index (in J notebook)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The data points are plotted versus the row. (Good for discovering irregularities)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8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Univariate EDA: </a:t>
            </a:r>
            <a:r>
              <a:rPr lang="en-US" dirty="0" err="1" smtClean="0"/>
              <a:t>barplot</a:t>
            </a:r>
            <a:r>
              <a:rPr lang="en-US" dirty="0" smtClean="0"/>
              <a:t> for categorical features,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075" y="1825625"/>
            <a:ext cx="9787849" cy="4351338"/>
          </a:xfrm>
        </p:spPr>
      </p:pic>
    </p:spTree>
    <p:extLst>
      <p:ext uri="{BB962C8B-B14F-4D97-AF65-F5344CB8AC3E}">
        <p14:creationId xmlns:p14="http://schemas.microsoft.com/office/powerpoint/2010/main" val="61753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Univariate EDA: histogram for numerical features,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38563"/>
            <a:ext cx="10515600" cy="3725461"/>
          </a:xfrm>
        </p:spPr>
      </p:pic>
    </p:spTree>
    <p:extLst>
      <p:ext uri="{BB962C8B-B14F-4D97-AF65-F5344CB8AC3E}">
        <p14:creationId xmlns:p14="http://schemas.microsoft.com/office/powerpoint/2010/main" val="3006606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Univariate EDA: observations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 err="1"/>
              <a:t>workclass</a:t>
            </a:r>
            <a:r>
              <a:rPr lang="en-US" dirty="0"/>
              <a:t>, </a:t>
            </a:r>
            <a:r>
              <a:rPr lang="en-US" b="1" dirty="0"/>
              <a:t>occupation</a:t>
            </a:r>
            <a:r>
              <a:rPr lang="en-US" dirty="0"/>
              <a:t> and </a:t>
            </a:r>
            <a:r>
              <a:rPr lang="en-US" b="1" dirty="0" err="1"/>
              <a:t>native_country</a:t>
            </a:r>
            <a:r>
              <a:rPr lang="en-US" dirty="0"/>
              <a:t> have missing values which is denoted by </a:t>
            </a:r>
            <a:r>
              <a:rPr lang="en-US" dirty="0" smtClean="0"/>
              <a:t>“?”. </a:t>
            </a:r>
            <a:r>
              <a:rPr lang="en-US" dirty="0"/>
              <a:t>This is not a problem for tree-based models however!</a:t>
            </a:r>
          </a:p>
          <a:p>
            <a:pPr>
              <a:lnSpc>
                <a:spcPct val="100000"/>
              </a:lnSpc>
            </a:pPr>
            <a:r>
              <a:rPr lang="en-US" dirty="0"/>
              <a:t>In variable </a:t>
            </a:r>
            <a:r>
              <a:rPr lang="en-US" b="1" dirty="0" err="1"/>
              <a:t>native_country</a:t>
            </a:r>
            <a:r>
              <a:rPr lang="en-US" dirty="0"/>
              <a:t>, one level "United-States" has the highest frequency (89.6%)!</a:t>
            </a:r>
          </a:p>
          <a:p>
            <a:r>
              <a:rPr lang="en-US" dirty="0"/>
              <a:t>variable </a:t>
            </a:r>
            <a:r>
              <a:rPr lang="en-US" b="1" dirty="0" err="1"/>
              <a:t>fnlwgt</a:t>
            </a:r>
            <a:r>
              <a:rPr lang="en-US" dirty="0"/>
              <a:t> sounds to have outliers</a:t>
            </a:r>
          </a:p>
          <a:p>
            <a:r>
              <a:rPr lang="en-US" dirty="0"/>
              <a:t>variables </a:t>
            </a:r>
            <a:r>
              <a:rPr lang="en-US" b="1" dirty="0" err="1"/>
              <a:t>capital_gain</a:t>
            </a:r>
            <a:r>
              <a:rPr lang="en-US" dirty="0"/>
              <a:t> and </a:t>
            </a:r>
            <a:r>
              <a:rPr lang="en-US" b="1" dirty="0" err="1"/>
              <a:t>capital_loss</a:t>
            </a:r>
            <a:r>
              <a:rPr lang="en-US" dirty="0"/>
              <a:t> mostly have zero as their value</a:t>
            </a:r>
          </a:p>
          <a:p>
            <a:r>
              <a:rPr lang="en-US" dirty="0"/>
              <a:t>40 hours is the most common level in </a:t>
            </a:r>
            <a:r>
              <a:rPr lang="en-US" dirty="0" err="1"/>
              <a:t>hours_per_week</a:t>
            </a:r>
            <a:r>
              <a:rPr lang="en-US" dirty="0"/>
              <a:t> variable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404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Bivariate EDA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Heatmap</a:t>
            </a:r>
            <a:r>
              <a:rPr lang="en-US" dirty="0"/>
              <a:t> </a:t>
            </a:r>
            <a:r>
              <a:rPr lang="en-US" dirty="0" smtClean="0"/>
              <a:t>plot of correlation among different variables (numerical)</a:t>
            </a:r>
          </a:p>
          <a:p>
            <a:pPr lvl="1"/>
            <a:r>
              <a:rPr lang="en-US" dirty="0" smtClean="0"/>
              <a:t>Potential discovery of collinearity among variables</a:t>
            </a:r>
          </a:p>
          <a:p>
            <a:pPr lvl="1"/>
            <a:r>
              <a:rPr lang="en-US" dirty="0" smtClean="0"/>
              <a:t>Response variable can be treated as a numerical feature by dummy-encoding, thus enabling us to calculate its correlation with other features (good for feature selection)</a:t>
            </a:r>
          </a:p>
          <a:p>
            <a:pPr lvl="1"/>
            <a:r>
              <a:rPr lang="en-US" dirty="0" smtClean="0"/>
              <a:t>This </a:t>
            </a:r>
            <a:r>
              <a:rPr lang="en-US" dirty="0" err="1" smtClean="0"/>
              <a:t>heatmap</a:t>
            </a:r>
            <a:r>
              <a:rPr lang="en-US" dirty="0" smtClean="0"/>
              <a:t> is plotted only for numerical features (including response)</a:t>
            </a:r>
          </a:p>
          <a:p>
            <a:pPr lvl="1"/>
            <a:endParaRPr lang="en-US" dirty="0"/>
          </a:p>
          <a:p>
            <a:r>
              <a:rPr lang="en-US" dirty="0" err="1" smtClean="0"/>
              <a:t>Heatmap</a:t>
            </a:r>
            <a:r>
              <a:rPr lang="en-US" dirty="0" smtClean="0"/>
              <a:t> to plot chi-2 test results (categorical)</a:t>
            </a:r>
          </a:p>
          <a:p>
            <a:pPr lvl="1"/>
            <a:r>
              <a:rPr lang="en-US" dirty="0" smtClean="0"/>
              <a:t>Good to find out dependency among the response variable and other features, to help us with feature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63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Bivariate EDA: </a:t>
            </a:r>
            <a:r>
              <a:rPr lang="en-US" dirty="0" err="1" smtClean="0"/>
              <a:t>heatmap</a:t>
            </a:r>
            <a:r>
              <a:rPr lang="en-US" dirty="0" smtClean="0"/>
              <a:t> of correlation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92488"/>
            <a:ext cx="6573253" cy="5256593"/>
          </a:xfrm>
        </p:spPr>
      </p:pic>
      <p:sp>
        <p:nvSpPr>
          <p:cNvPr id="5" name="TextBox 4"/>
          <p:cNvSpPr txBox="1"/>
          <p:nvPr/>
        </p:nvSpPr>
        <p:spPr>
          <a:xfrm>
            <a:off x="8181474" y="1556084"/>
            <a:ext cx="357738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response variable “income” has a very low correlation with the numerical feature “</a:t>
            </a:r>
            <a:r>
              <a:rPr lang="en-US" sz="2000" dirty="0" err="1" smtClean="0"/>
              <a:t>fnlwgt</a:t>
            </a:r>
            <a:r>
              <a:rPr lang="en-US" sz="2000" dirty="0" smtClean="0"/>
              <a:t>”. This is the first hint that maybe we should drop this feature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Apart from that, there is not much more finding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303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Bivariate EDA: </a:t>
            </a:r>
            <a:r>
              <a:rPr lang="en-US" dirty="0" err="1" smtClean="0"/>
              <a:t>heatmap</a:t>
            </a:r>
            <a:r>
              <a:rPr lang="en-US" dirty="0" smtClean="0"/>
              <a:t> for chi-2 test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059" y="1690687"/>
            <a:ext cx="5626325" cy="4806365"/>
          </a:xfrm>
        </p:spPr>
      </p:pic>
      <p:sp>
        <p:nvSpPr>
          <p:cNvPr id="5" name="TextBox 4"/>
          <p:cNvSpPr txBox="1"/>
          <p:nvPr/>
        </p:nvSpPr>
        <p:spPr>
          <a:xfrm>
            <a:off x="8406063" y="1876926"/>
            <a:ext cx="32886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chi-2 test, the dependency among an output variable and some features are calculated.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Each variable is once considered as the output variable including our own response variable, and its dependency with other features are analyzed with p-values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values in cells are p-values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5358063" y="5325979"/>
            <a:ext cx="2967790" cy="1426750"/>
            <a:chOff x="5358063" y="5325979"/>
            <a:chExt cx="2967790" cy="1426750"/>
          </a:xfrm>
        </p:grpSpPr>
        <p:sp>
          <p:nvSpPr>
            <p:cNvPr id="6" name="Oval 5"/>
            <p:cNvSpPr/>
            <p:nvPr/>
          </p:nvSpPr>
          <p:spPr>
            <a:xfrm>
              <a:off x="5358063" y="5325979"/>
              <a:ext cx="401053" cy="1171073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5855368" y="6101122"/>
              <a:ext cx="2470485" cy="651607"/>
            </a:xfrm>
            <a:custGeom>
              <a:avLst/>
              <a:gdLst>
                <a:gd name="connsiteX0" fmla="*/ 2470485 w 2470485"/>
                <a:gd name="connsiteY0" fmla="*/ 75089 h 651607"/>
                <a:gd name="connsiteX1" fmla="*/ 1524000 w 2470485"/>
                <a:gd name="connsiteY1" fmla="*/ 43004 h 651607"/>
                <a:gd name="connsiteX2" fmla="*/ 882316 w 2470485"/>
                <a:gd name="connsiteY2" fmla="*/ 588436 h 651607"/>
                <a:gd name="connsiteX3" fmla="*/ 320843 w 2470485"/>
                <a:gd name="connsiteY3" fmla="*/ 620520 h 651607"/>
                <a:gd name="connsiteX4" fmla="*/ 0 w 2470485"/>
                <a:gd name="connsiteY4" fmla="*/ 411973 h 651607"/>
                <a:gd name="connsiteX5" fmla="*/ 0 w 2470485"/>
                <a:gd name="connsiteY5" fmla="*/ 411973 h 65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0485" h="651607">
                  <a:moveTo>
                    <a:pt x="2470485" y="75089"/>
                  </a:moveTo>
                  <a:cubicBezTo>
                    <a:pt x="2129590" y="16267"/>
                    <a:pt x="1788695" y="-42554"/>
                    <a:pt x="1524000" y="43004"/>
                  </a:cubicBezTo>
                  <a:cubicBezTo>
                    <a:pt x="1259305" y="128562"/>
                    <a:pt x="1082842" y="492183"/>
                    <a:pt x="882316" y="588436"/>
                  </a:cubicBezTo>
                  <a:cubicBezTo>
                    <a:pt x="681790" y="684689"/>
                    <a:pt x="467896" y="649931"/>
                    <a:pt x="320843" y="620520"/>
                  </a:cubicBezTo>
                  <a:cubicBezTo>
                    <a:pt x="173790" y="591110"/>
                    <a:pt x="0" y="411973"/>
                    <a:pt x="0" y="411973"/>
                  </a:cubicBezTo>
                  <a:lnTo>
                    <a:pt x="0" y="411973"/>
                  </a:lnTo>
                </a:path>
              </a:pathLst>
            </a:custGeom>
            <a:noFill/>
            <a:ln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550442" y="6101122"/>
            <a:ext cx="2803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response variable: income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68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Bivariate EDA: </a:t>
            </a:r>
            <a:r>
              <a:rPr lang="en-US" dirty="0" err="1" smtClean="0"/>
              <a:t>heatmap</a:t>
            </a:r>
            <a:r>
              <a:rPr lang="en-US" dirty="0" smtClean="0"/>
              <a:t> for chi-2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p-value &lt;= alpha: </a:t>
            </a:r>
          </a:p>
          <a:p>
            <a:pPr lvl="1"/>
            <a:r>
              <a:rPr lang="en-US" dirty="0" smtClean="0"/>
              <a:t>significant result, reject null hypothesis (H0), dependent.</a:t>
            </a:r>
          </a:p>
          <a:p>
            <a:r>
              <a:rPr lang="en-US" dirty="0" smtClean="0"/>
              <a:t>If p-value &gt; alpha: </a:t>
            </a:r>
          </a:p>
          <a:p>
            <a:pPr lvl="1"/>
            <a:r>
              <a:rPr lang="en-US" dirty="0" smtClean="0"/>
              <a:t>not significant result, fail to reject null hypothesis (H0), independent.</a:t>
            </a:r>
          </a:p>
          <a:p>
            <a:r>
              <a:rPr lang="en-US" dirty="0" smtClean="0"/>
              <a:t>Assuming alpha= 0.05, most of p-values are way smaller than alpha</a:t>
            </a:r>
          </a:p>
          <a:p>
            <a:r>
              <a:rPr lang="en-US" dirty="0" smtClean="0"/>
              <a:t>Those p-values greater than alpha were colored with red. These are the non-diagonal red cells</a:t>
            </a:r>
          </a:p>
          <a:p>
            <a:r>
              <a:rPr lang="en-US" dirty="0" smtClean="0"/>
              <a:t>The most important finding is that the response variable is dependent on all features with 95 % confidence interval</a:t>
            </a:r>
          </a:p>
        </p:txBody>
      </p:sp>
    </p:spTree>
    <p:extLst>
      <p:ext uri="{BB962C8B-B14F-4D97-AF65-F5344CB8AC3E}">
        <p14:creationId xmlns:p14="http://schemas.microsoft.com/office/powerpoint/2010/main" val="377191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Engineering &amp; Selection Ideas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G</a:t>
            </a:r>
            <a:r>
              <a:rPr lang="en-US" sz="2400" b="1" dirty="0" smtClean="0"/>
              <a:t>eneral</a:t>
            </a:r>
          </a:p>
          <a:p>
            <a:pPr lvl="1">
              <a:lnSpc>
                <a:spcPct val="120000"/>
              </a:lnSpc>
            </a:pPr>
            <a:r>
              <a:rPr lang="en-US" sz="2000" dirty="0" smtClean="0"/>
              <a:t>We have many categorical variables with many levels (8 vs 6). This might suggest that tree-based models (such as Random Forest, </a:t>
            </a:r>
            <a:r>
              <a:rPr lang="en-US" sz="2000" dirty="0" err="1" smtClean="0"/>
              <a:t>XGboost</a:t>
            </a:r>
            <a:r>
              <a:rPr lang="en-US" sz="2000" dirty="0" smtClean="0"/>
              <a:t> etc. ) maybe be better candidates. But we could still try other models</a:t>
            </a:r>
          </a:p>
          <a:p>
            <a:pPr lvl="1">
              <a:lnSpc>
                <a:spcPct val="170000"/>
              </a:lnSpc>
            </a:pPr>
            <a:r>
              <a:rPr lang="en-US" sz="2000" dirty="0" smtClean="0"/>
              <a:t>Considering the Cartesian product of categorical features may improve the performance of the model</a:t>
            </a:r>
            <a:endParaRPr lang="en-US" sz="2400" dirty="0" smtClean="0"/>
          </a:p>
          <a:p>
            <a:r>
              <a:rPr lang="en-US" sz="2400" b="1" dirty="0" smtClean="0"/>
              <a:t>model specific</a:t>
            </a:r>
            <a:endParaRPr lang="en-US" sz="2400" dirty="0" smtClean="0"/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For tree-based models, we will label-encode the categorical variables, although for </a:t>
            </a:r>
            <a:r>
              <a:rPr lang="en-US" sz="1800" dirty="0" err="1" smtClean="0"/>
              <a:t>XGBoost</a:t>
            </a:r>
            <a:r>
              <a:rPr lang="en-US" sz="1800" dirty="0" smtClean="0"/>
              <a:t> we could also consider the one-hot encoded features</a:t>
            </a:r>
          </a:p>
          <a:p>
            <a:pPr lvl="1">
              <a:lnSpc>
                <a:spcPct val="170000"/>
              </a:lnSpc>
            </a:pPr>
            <a:r>
              <a:rPr lang="en-US" sz="1800" dirty="0" smtClean="0"/>
              <a:t>For linear-based models, we will </a:t>
            </a:r>
            <a:r>
              <a:rPr lang="en-US" sz="1800" dirty="0" err="1" smtClean="0"/>
              <a:t>one_hot_encode</a:t>
            </a:r>
            <a:r>
              <a:rPr lang="en-US" sz="1800" dirty="0" smtClean="0"/>
              <a:t> them.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60774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Since the data is imbalanced, we choose </a:t>
            </a:r>
            <a:r>
              <a:rPr lang="en-US" dirty="0" err="1" smtClean="0"/>
              <a:t>roc_auc</a:t>
            </a:r>
            <a:r>
              <a:rPr lang="en-US" dirty="0" smtClean="0"/>
              <a:t> as our metric to be reported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In </a:t>
            </a:r>
            <a:r>
              <a:rPr lang="en-US" dirty="0" err="1" smtClean="0"/>
              <a:t>XGBoost</a:t>
            </a:r>
            <a:r>
              <a:rPr lang="en-US" dirty="0" smtClean="0"/>
              <a:t>, </a:t>
            </a:r>
            <a:r>
              <a:rPr lang="en-US" dirty="0" err="1" smtClean="0"/>
              <a:t>hyperparameters</a:t>
            </a:r>
            <a:r>
              <a:rPr lang="en-US" dirty="0" smtClean="0"/>
              <a:t> must be optimized 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In theory, one would need to large grid search in order to find the optimal </a:t>
            </a:r>
            <a:r>
              <a:rPr lang="en-US" dirty="0" err="1" smtClean="0"/>
              <a:t>hyperparameters</a:t>
            </a:r>
            <a:r>
              <a:rPr lang="en-US" dirty="0" smtClean="0"/>
              <a:t>, but in practice this is impossible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So we have a different approach to </a:t>
            </a:r>
            <a:r>
              <a:rPr lang="en-US" dirty="0" err="1" smtClean="0"/>
              <a:t>hyperparameter</a:t>
            </a:r>
            <a:r>
              <a:rPr lang="en-US" dirty="0" smtClean="0"/>
              <a:t>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696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): Our approach to </a:t>
            </a:r>
            <a:r>
              <a:rPr lang="en-US" dirty="0" err="1" smtClean="0"/>
              <a:t>hyperparameter</a:t>
            </a:r>
            <a:r>
              <a:rPr lang="en-US" dirty="0" smtClean="0"/>
              <a:t>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Choose a high learning rate </a:t>
            </a:r>
          </a:p>
          <a:p>
            <a:pPr marL="514350" indent="-514350">
              <a:buAutoNum type="arabicPeriod"/>
            </a:pPr>
            <a:r>
              <a:rPr lang="en-US" dirty="0" smtClean="0"/>
              <a:t>Determine the optimum number of trees for this learning rate, assuming an initial set of </a:t>
            </a:r>
            <a:r>
              <a:rPr lang="en-US" dirty="0" err="1" smtClean="0"/>
              <a:t>hyperparameters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Tune tree-specific parameters (</a:t>
            </a:r>
            <a:r>
              <a:rPr lang="en-US" dirty="0" err="1" smtClean="0"/>
              <a:t>max_depth</a:t>
            </a:r>
            <a:r>
              <a:rPr lang="en-US" dirty="0" smtClean="0"/>
              <a:t> and </a:t>
            </a:r>
            <a:r>
              <a:rPr lang="en-US" dirty="0" err="1" smtClean="0"/>
              <a:t>min_child_weight</a:t>
            </a:r>
            <a:r>
              <a:rPr lang="en-US" dirty="0" smtClean="0"/>
              <a:t>)</a:t>
            </a:r>
          </a:p>
          <a:p>
            <a:pPr marL="514350" indent="-514350">
              <a:buAutoNum type="arabicPeriod"/>
            </a:pPr>
            <a:r>
              <a:rPr lang="en-US" dirty="0" smtClean="0"/>
              <a:t>Tune gamma </a:t>
            </a:r>
          </a:p>
          <a:p>
            <a:pPr marL="514350" indent="-514350">
              <a:buAutoNum type="arabicPeriod"/>
            </a:pPr>
            <a:r>
              <a:rPr lang="en-US" dirty="0" smtClean="0"/>
              <a:t>Tune subsample and </a:t>
            </a:r>
            <a:r>
              <a:rPr lang="en-US" dirty="0" err="1" smtClean="0"/>
              <a:t>colsample_bytree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Tune regularization parameters (lambda, alpha) </a:t>
            </a:r>
          </a:p>
          <a:p>
            <a:pPr marL="514350" indent="-514350">
              <a:buAutoNum type="arabicPeriod"/>
            </a:pPr>
            <a:r>
              <a:rPr lang="en-US" dirty="0" smtClean="0"/>
              <a:t>Lower the learning rate with the found </a:t>
            </a:r>
            <a:r>
              <a:rPr lang="en-US" dirty="0" err="1" smtClean="0"/>
              <a:t>hyperparameters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8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): train, test, cross-validation </a:t>
            </a:r>
            <a:r>
              <a:rPr lang="en-US" dirty="0" err="1" smtClean="0"/>
              <a:t>auc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7985694" cy="4351338"/>
          </a:xfrm>
        </p:spPr>
      </p:pic>
      <p:sp>
        <p:nvSpPr>
          <p:cNvPr id="5" name="TextBox 4"/>
          <p:cNvSpPr txBox="1"/>
          <p:nvPr/>
        </p:nvSpPr>
        <p:spPr>
          <a:xfrm>
            <a:off x="9063790" y="1828800"/>
            <a:ext cx="29357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As it can be seen from the plots, we have approximated the real test </a:t>
            </a:r>
            <a:r>
              <a:rPr lang="en-US" sz="2000" dirty="0" err="1" smtClean="0"/>
              <a:t>auc</a:t>
            </a:r>
            <a:r>
              <a:rPr lang="en-US" sz="2000" dirty="0" smtClean="0"/>
              <a:t> very well with the cross-validation </a:t>
            </a:r>
            <a:r>
              <a:rPr lang="en-US" sz="2000" dirty="0" err="1" smtClean="0"/>
              <a:t>auc</a:t>
            </a:r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Real test-</a:t>
            </a:r>
            <a:r>
              <a:rPr lang="en-US" sz="2000" dirty="0" err="1" smtClean="0"/>
              <a:t>auc</a:t>
            </a:r>
            <a:r>
              <a:rPr lang="en-US" sz="2000" dirty="0" smtClean="0"/>
              <a:t> is always lower than the approximated cv </a:t>
            </a:r>
            <a:r>
              <a:rPr lang="en-US" sz="2000" dirty="0" err="1" smtClean="0"/>
              <a:t>auc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952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): feature importance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242" y="1568951"/>
            <a:ext cx="6609347" cy="4755764"/>
          </a:xfrm>
        </p:spPr>
      </p:pic>
      <p:sp>
        <p:nvSpPr>
          <p:cNvPr id="5" name="TextBox 4"/>
          <p:cNvSpPr txBox="1"/>
          <p:nvPr/>
        </p:nvSpPr>
        <p:spPr>
          <a:xfrm>
            <a:off x="8241631" y="1844842"/>
            <a:ext cx="36776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As it can be seen, </a:t>
            </a:r>
            <a:r>
              <a:rPr lang="en-US" sz="2400" dirty="0" err="1" smtClean="0"/>
              <a:t>native_country</a:t>
            </a:r>
            <a:r>
              <a:rPr lang="en-US" sz="2400" dirty="0" smtClean="0"/>
              <a:t> does not have much importance. Besides, it has too many levels.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Removing </a:t>
            </a:r>
            <a:r>
              <a:rPr lang="en-US" sz="2400" dirty="0" err="1" smtClean="0"/>
              <a:t>native_country</a:t>
            </a:r>
            <a:r>
              <a:rPr lang="en-US" sz="2400" dirty="0" smtClean="0"/>
              <a:t> has a very minimal effect on the test </a:t>
            </a:r>
            <a:r>
              <a:rPr lang="en-US" sz="2400" dirty="0" err="1" smtClean="0"/>
              <a:t>auc</a:t>
            </a:r>
            <a:r>
              <a:rPr lang="en-US" sz="2400" dirty="0"/>
              <a:t> </a:t>
            </a:r>
            <a:r>
              <a:rPr lang="en-US" sz="2400" dirty="0" smtClean="0"/>
              <a:t>(tested)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416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): model performance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9907709"/>
              </p:ext>
            </p:extLst>
          </p:nvPr>
        </p:nvGraphicFramePr>
        <p:xfrm>
          <a:off x="8678778" y="2509869"/>
          <a:ext cx="2675022" cy="1425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11">
                  <a:extLst>
                    <a:ext uri="{9D8B030D-6E8A-4147-A177-3AD203B41FA5}">
                      <a16:colId xmlns:a16="http://schemas.microsoft.com/office/drawing/2014/main" val="2463247919"/>
                    </a:ext>
                  </a:extLst>
                </a:gridCol>
                <a:gridCol w="1299411">
                  <a:extLst>
                    <a:ext uri="{9D8B030D-6E8A-4147-A177-3AD203B41FA5}">
                      <a16:colId xmlns:a16="http://schemas.microsoft.com/office/drawing/2014/main" val="549577348"/>
                    </a:ext>
                  </a:extLst>
                </a:gridCol>
              </a:tblGrid>
              <a:tr h="6215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train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test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72645"/>
                  </a:ext>
                </a:extLst>
              </a:tr>
              <a:tr h="803693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0.948283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0.928779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692895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978569" y="1718051"/>
            <a:ext cx="3188368" cy="2739173"/>
            <a:chOff x="978569" y="1718051"/>
            <a:chExt cx="3188368" cy="2739173"/>
          </a:xfrm>
        </p:grpSpPr>
        <p:graphicFrame>
          <p:nvGraphicFramePr>
            <p:cNvPr id="5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39858835"/>
                </p:ext>
              </p:extLst>
            </p:nvPr>
          </p:nvGraphicFramePr>
          <p:xfrm>
            <a:off x="1235242" y="2484078"/>
            <a:ext cx="2675022" cy="1973146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375611">
                    <a:extLst>
                      <a:ext uri="{9D8B030D-6E8A-4147-A177-3AD203B41FA5}">
                        <a16:colId xmlns:a16="http://schemas.microsoft.com/office/drawing/2014/main" val="2463247919"/>
                      </a:ext>
                    </a:extLst>
                  </a:gridCol>
                  <a:gridCol w="1299411">
                    <a:extLst>
                      <a:ext uri="{9D8B030D-6E8A-4147-A177-3AD203B41FA5}">
                        <a16:colId xmlns:a16="http://schemas.microsoft.com/office/drawing/2014/main" val="549577348"/>
                      </a:ext>
                    </a:extLst>
                  </a:gridCol>
                </a:tblGrid>
                <a:tr h="332039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924900176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20742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779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518072645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3978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7062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38692895"/>
                    </a:ext>
                  </a:extLst>
                </a:tr>
              </a:tbl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978569" y="1718051"/>
              <a:ext cx="31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Confusion matrix for train data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01816" y="1743842"/>
            <a:ext cx="3188368" cy="2739173"/>
            <a:chOff x="978569" y="1718051"/>
            <a:chExt cx="3188368" cy="2739173"/>
          </a:xfrm>
        </p:grpSpPr>
        <p:graphicFrame>
          <p:nvGraphicFramePr>
            <p:cNvPr id="9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83028462"/>
                </p:ext>
              </p:extLst>
            </p:nvPr>
          </p:nvGraphicFramePr>
          <p:xfrm>
            <a:off x="1235242" y="2484078"/>
            <a:ext cx="2675022" cy="1973146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375611">
                    <a:extLst>
                      <a:ext uri="{9D8B030D-6E8A-4147-A177-3AD203B41FA5}">
                        <a16:colId xmlns:a16="http://schemas.microsoft.com/office/drawing/2014/main" val="2463247919"/>
                      </a:ext>
                    </a:extLst>
                  </a:gridCol>
                  <a:gridCol w="1299411">
                    <a:extLst>
                      <a:ext uri="{9D8B030D-6E8A-4147-A177-3AD203B41FA5}">
                        <a16:colId xmlns:a16="http://schemas.microsoft.com/office/drawing/2014/main" val="549577348"/>
                      </a:ext>
                    </a:extLst>
                  </a:gridCol>
                </a:tblGrid>
                <a:tr h="332039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924900176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10292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534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518072645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2143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3312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38692895"/>
                    </a:ext>
                  </a:extLst>
                </a:tr>
              </a:tbl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978569" y="1718051"/>
              <a:ext cx="31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Confusion matrix for test data</a:t>
              </a:r>
              <a:endParaRPr lang="en-US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801726" y="1743842"/>
            <a:ext cx="80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auc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): categorical features dummy encoded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We expect that the performance of the model improves because now features have spread out in the features space, from a label encoded to a dummy encoded state</a:t>
            </a:r>
            <a:br>
              <a:rPr lang="en-US" dirty="0" smtClean="0"/>
            </a:b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 smtClean="0"/>
              <a:t>This gives the </a:t>
            </a:r>
            <a:r>
              <a:rPr lang="en-US" dirty="0" err="1" smtClean="0"/>
              <a:t>XGBoost</a:t>
            </a:r>
            <a:r>
              <a:rPr lang="en-US" dirty="0" smtClean="0"/>
              <a:t> algorithm the flexibility to learn more complex relationships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09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): categorical features dummy encoded 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358705" y="2209676"/>
            <a:ext cx="3188368" cy="2739173"/>
            <a:chOff x="978569" y="1718051"/>
            <a:chExt cx="3188368" cy="2739173"/>
          </a:xfrm>
        </p:grpSpPr>
        <p:graphicFrame>
          <p:nvGraphicFramePr>
            <p:cNvPr id="5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43014322"/>
                </p:ext>
              </p:extLst>
            </p:nvPr>
          </p:nvGraphicFramePr>
          <p:xfrm>
            <a:off x="1235242" y="2484078"/>
            <a:ext cx="2675022" cy="1973146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375611">
                    <a:extLst>
                      <a:ext uri="{9D8B030D-6E8A-4147-A177-3AD203B41FA5}">
                        <a16:colId xmlns:a16="http://schemas.microsoft.com/office/drawing/2014/main" val="2463247919"/>
                      </a:ext>
                    </a:extLst>
                  </a:gridCol>
                  <a:gridCol w="1299411">
                    <a:extLst>
                      <a:ext uri="{9D8B030D-6E8A-4147-A177-3AD203B41FA5}">
                        <a16:colId xmlns:a16="http://schemas.microsoft.com/office/drawing/2014/main" val="549577348"/>
                      </a:ext>
                    </a:extLst>
                  </a:gridCol>
                </a:tblGrid>
                <a:tr h="332039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924900176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20621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778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518072645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4099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7063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38692895"/>
                    </a:ext>
                  </a:extLst>
                </a:tr>
              </a:tbl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978569" y="1718051"/>
              <a:ext cx="31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Confusion matrix for train data</a:t>
              </a:r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937915" y="2209676"/>
            <a:ext cx="3188368" cy="2739173"/>
            <a:chOff x="978569" y="1718051"/>
            <a:chExt cx="3188368" cy="2739173"/>
          </a:xfrm>
        </p:grpSpPr>
        <p:graphicFrame>
          <p:nvGraphicFramePr>
            <p:cNvPr id="8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0371494"/>
                </p:ext>
              </p:extLst>
            </p:nvPr>
          </p:nvGraphicFramePr>
          <p:xfrm>
            <a:off x="1235242" y="2484078"/>
            <a:ext cx="2675022" cy="1973146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375611">
                    <a:extLst>
                      <a:ext uri="{9D8B030D-6E8A-4147-A177-3AD203B41FA5}">
                        <a16:colId xmlns:a16="http://schemas.microsoft.com/office/drawing/2014/main" val="2463247919"/>
                      </a:ext>
                    </a:extLst>
                  </a:gridCol>
                  <a:gridCol w="1299411">
                    <a:extLst>
                      <a:ext uri="{9D8B030D-6E8A-4147-A177-3AD203B41FA5}">
                        <a16:colId xmlns:a16="http://schemas.microsoft.com/office/drawing/2014/main" val="549577348"/>
                      </a:ext>
                    </a:extLst>
                  </a:gridCol>
                </a:tblGrid>
                <a:tr h="332039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924900176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10249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524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518072645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2186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3322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38692895"/>
                    </a:ext>
                  </a:extLst>
                </a:tr>
              </a:tbl>
            </a:graphicData>
          </a:graphic>
        </p:graphicFrame>
        <p:sp>
          <p:nvSpPr>
            <p:cNvPr id="9" name="TextBox 8"/>
            <p:cNvSpPr txBox="1"/>
            <p:nvPr/>
          </p:nvSpPr>
          <p:spPr>
            <a:xfrm>
              <a:off x="978569" y="1718051"/>
              <a:ext cx="31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Confusion matrix for test data</a:t>
              </a:r>
              <a:endParaRPr lang="en-US" dirty="0"/>
            </a:p>
          </p:txBody>
        </p:sp>
      </p:grpSp>
      <p:graphicFrame>
        <p:nvGraphicFramePr>
          <p:cNvPr id="10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721658"/>
              </p:ext>
            </p:extLst>
          </p:nvPr>
        </p:nvGraphicFramePr>
        <p:xfrm>
          <a:off x="8517125" y="2975703"/>
          <a:ext cx="2675022" cy="1425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11">
                  <a:extLst>
                    <a:ext uri="{9D8B030D-6E8A-4147-A177-3AD203B41FA5}">
                      <a16:colId xmlns:a16="http://schemas.microsoft.com/office/drawing/2014/main" val="2463247919"/>
                    </a:ext>
                  </a:extLst>
                </a:gridCol>
                <a:gridCol w="1299411">
                  <a:extLst>
                    <a:ext uri="{9D8B030D-6E8A-4147-A177-3AD203B41FA5}">
                      <a16:colId xmlns:a16="http://schemas.microsoft.com/office/drawing/2014/main" val="549577348"/>
                    </a:ext>
                  </a:extLst>
                </a:gridCol>
              </a:tblGrid>
              <a:tr h="6215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train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test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72645"/>
                  </a:ext>
                </a:extLst>
              </a:tr>
              <a:tr h="803693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0.946151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0.929234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69289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640073" y="2209676"/>
            <a:ext cx="80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auc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358705" y="5345723"/>
            <a:ext cx="9833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Comparing to when the features were only label encoded, the performance slightly improved.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637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Modelling (</a:t>
            </a:r>
            <a:r>
              <a:rPr lang="en-US" dirty="0" err="1" smtClean="0"/>
              <a:t>XGBoost</a:t>
            </a:r>
            <a:r>
              <a:rPr lang="en-US" dirty="0" smtClean="0"/>
              <a:t>): categorical features dummy encoded, selecting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Considering all the dummy features, we have around 107 features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After dropping those ones whose importance are zero according to </a:t>
            </a:r>
            <a:r>
              <a:rPr lang="en-US" dirty="0" err="1" smtClean="0"/>
              <a:t>XGBoost</a:t>
            </a:r>
            <a:r>
              <a:rPr lang="en-US" dirty="0" smtClean="0"/>
              <a:t> algorithm, the number of remaining features reduced to 92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In other words, </a:t>
            </a:r>
            <a:r>
              <a:rPr lang="en-US" dirty="0" err="1" smtClean="0"/>
              <a:t>XGBoost</a:t>
            </a:r>
            <a:r>
              <a:rPr lang="en-US" dirty="0" smtClean="0"/>
              <a:t> helped us select features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Interestingly, these non-important features are mostly different levels of “</a:t>
            </a:r>
            <a:r>
              <a:rPr lang="en-US" dirty="0" err="1" smtClean="0"/>
              <a:t>native_country</a:t>
            </a:r>
            <a:r>
              <a:rPr lang="en-US" dirty="0" smtClean="0"/>
              <a:t>”, but nothing surprising as we already knew it is not an important feature comparing to other features.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95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Neural Network: Dummy features with omitted features from the </a:t>
            </a:r>
            <a:r>
              <a:rPr lang="en-US" dirty="0" err="1" smtClean="0"/>
              <a:t>XGBoost</a:t>
            </a:r>
            <a:r>
              <a:rPr lang="en-US" dirty="0" smtClean="0"/>
              <a:t> results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652803" y="2180492"/>
            <a:ext cx="2826434" cy="3707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Here we see the architecture of the feed forward neural network we used for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architecture is not unique and it is itself a </a:t>
            </a:r>
            <a:r>
              <a:rPr lang="en-US" dirty="0" err="1" smtClean="0"/>
              <a:t>hyperparameter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could already improve our </a:t>
            </a:r>
            <a:r>
              <a:rPr lang="en-US" dirty="0" err="1" smtClean="0"/>
              <a:t>auc</a:t>
            </a:r>
            <a:r>
              <a:rPr lang="en-US" dirty="0" smtClean="0"/>
              <a:t> metric comparing to </a:t>
            </a:r>
            <a:r>
              <a:rPr lang="en-US" dirty="0" err="1" smtClean="0"/>
              <a:t>XGBoot</a:t>
            </a:r>
            <a:r>
              <a:rPr lang="en-US" dirty="0" smtClean="0"/>
              <a:t> by almost 0.003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871" y="1837415"/>
            <a:ext cx="6907120" cy="4783324"/>
          </a:xfrm>
        </p:spPr>
      </p:pic>
    </p:spTree>
    <p:extLst>
      <p:ext uri="{BB962C8B-B14F-4D97-AF65-F5344CB8AC3E}">
        <p14:creationId xmlns:p14="http://schemas.microsoft.com/office/powerpoint/2010/main" val="339458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Neural Network: Dummy features with omitted features from the </a:t>
            </a:r>
            <a:r>
              <a:rPr lang="en-US" dirty="0" err="1" smtClean="0"/>
              <a:t>XGBoost</a:t>
            </a:r>
            <a:r>
              <a:rPr lang="en-US" dirty="0" smtClean="0"/>
              <a:t> results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62435"/>
            <a:ext cx="9982406" cy="3317859"/>
          </a:xfrm>
        </p:spPr>
      </p:pic>
    </p:spTree>
    <p:extLst>
      <p:ext uri="{BB962C8B-B14F-4D97-AF65-F5344CB8AC3E}">
        <p14:creationId xmlns:p14="http://schemas.microsoft.com/office/powerpoint/2010/main" val="141708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Neural Network: Dummy features with omitted features from the </a:t>
            </a:r>
            <a:r>
              <a:rPr lang="en-US" dirty="0" err="1" smtClean="0"/>
              <a:t>XGBoost</a:t>
            </a:r>
            <a:r>
              <a:rPr lang="en-US" dirty="0" smtClean="0"/>
              <a:t> results 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358705" y="2209676"/>
            <a:ext cx="3188368" cy="2739173"/>
            <a:chOff x="978569" y="1718051"/>
            <a:chExt cx="3188368" cy="2739173"/>
          </a:xfrm>
        </p:grpSpPr>
        <p:graphicFrame>
          <p:nvGraphicFramePr>
            <p:cNvPr id="6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94435788"/>
                </p:ext>
              </p:extLst>
            </p:nvPr>
          </p:nvGraphicFramePr>
          <p:xfrm>
            <a:off x="1235242" y="2484078"/>
            <a:ext cx="2675022" cy="1973146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375611">
                    <a:extLst>
                      <a:ext uri="{9D8B030D-6E8A-4147-A177-3AD203B41FA5}">
                        <a16:colId xmlns:a16="http://schemas.microsoft.com/office/drawing/2014/main" val="2463247919"/>
                      </a:ext>
                    </a:extLst>
                  </a:gridCol>
                  <a:gridCol w="1299411">
                    <a:extLst>
                      <a:ext uri="{9D8B030D-6E8A-4147-A177-3AD203B41FA5}">
                        <a16:colId xmlns:a16="http://schemas.microsoft.com/office/drawing/2014/main" val="549577348"/>
                      </a:ext>
                    </a:extLst>
                  </a:gridCol>
                </a:tblGrid>
                <a:tr h="332039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924900176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23742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978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518072645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831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7010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38692895"/>
                    </a:ext>
                  </a:extLst>
                </a:tr>
              </a:tbl>
            </a:graphicData>
          </a:graphic>
        </p:graphicFrame>
        <p:sp>
          <p:nvSpPr>
            <p:cNvPr id="7" name="TextBox 6"/>
            <p:cNvSpPr txBox="1"/>
            <p:nvPr/>
          </p:nvSpPr>
          <p:spPr>
            <a:xfrm>
              <a:off x="978569" y="1718051"/>
              <a:ext cx="31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Confusion matrix for train data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37915" y="2209676"/>
            <a:ext cx="3188368" cy="2739173"/>
            <a:chOff x="978569" y="1718051"/>
            <a:chExt cx="3188368" cy="2739173"/>
          </a:xfrm>
        </p:grpSpPr>
        <p:graphicFrame>
          <p:nvGraphicFramePr>
            <p:cNvPr id="9" name="Content Placeholder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25860090"/>
                </p:ext>
              </p:extLst>
            </p:nvPr>
          </p:nvGraphicFramePr>
          <p:xfrm>
            <a:off x="1235242" y="2484078"/>
            <a:ext cx="2675022" cy="1973146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375611">
                    <a:extLst>
                      <a:ext uri="{9D8B030D-6E8A-4147-A177-3AD203B41FA5}">
                        <a16:colId xmlns:a16="http://schemas.microsoft.com/office/drawing/2014/main" val="2463247919"/>
                      </a:ext>
                    </a:extLst>
                  </a:gridCol>
                  <a:gridCol w="1299411">
                    <a:extLst>
                      <a:ext uri="{9D8B030D-6E8A-4147-A177-3AD203B41FA5}">
                        <a16:colId xmlns:a16="http://schemas.microsoft.com/office/drawing/2014/main" val="549577348"/>
                      </a:ext>
                    </a:extLst>
                  </a:gridCol>
                </a:tblGrid>
                <a:tr h="332039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924900176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10892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1543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518072645"/>
                    </a:ext>
                  </a:extLst>
                </a:tr>
                <a:tr h="803693"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1442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dirty="0" smtClean="0"/>
                          <a:t>2404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38692895"/>
                    </a:ext>
                  </a:extLst>
                </a:tr>
              </a:tbl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978569" y="1718051"/>
              <a:ext cx="31883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Confusion matrix for test data</a:t>
              </a:r>
              <a:endParaRPr lang="en-US" dirty="0"/>
            </a:p>
          </p:txBody>
        </p:sp>
      </p:grpSp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2656325"/>
              </p:ext>
            </p:extLst>
          </p:nvPr>
        </p:nvGraphicFramePr>
        <p:xfrm>
          <a:off x="8530867" y="2975703"/>
          <a:ext cx="2675022" cy="1425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11">
                  <a:extLst>
                    <a:ext uri="{9D8B030D-6E8A-4147-A177-3AD203B41FA5}">
                      <a16:colId xmlns:a16="http://schemas.microsoft.com/office/drawing/2014/main" val="2463247919"/>
                    </a:ext>
                  </a:extLst>
                </a:gridCol>
                <a:gridCol w="1299411">
                  <a:extLst>
                    <a:ext uri="{9D8B030D-6E8A-4147-A177-3AD203B41FA5}">
                      <a16:colId xmlns:a16="http://schemas.microsoft.com/office/drawing/2014/main" val="549577348"/>
                    </a:ext>
                  </a:extLst>
                </a:gridCol>
              </a:tblGrid>
              <a:tr h="6215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train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test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</a:rPr>
                        <a:t>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72645"/>
                  </a:ext>
                </a:extLst>
              </a:tr>
              <a:tr h="803693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0.9327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0.9327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69289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653815" y="2209676"/>
            <a:ext cx="80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auc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15378" y="5317588"/>
            <a:ext cx="8260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Performance improved w.r.t </a:t>
            </a:r>
            <a:r>
              <a:rPr lang="en-US" sz="2400" dirty="0" err="1" smtClean="0"/>
              <a:t>XGBoost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52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Train other models such as SVM, random forest, naive Bayes etc.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Build an stacking of models to improve the performance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Try to optimize models for other metrics such as precision, recall or F1-score if needed</a:t>
            </a:r>
          </a:p>
          <a:p>
            <a:pPr>
              <a:lnSpc>
                <a:spcPct val="150000"/>
              </a:lnSpc>
            </a:pPr>
            <a:r>
              <a:rPr lang="en-US" dirty="0"/>
              <a:t>More feature engineering based on the domain knowledge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12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1346</Words>
  <Application>Microsoft Office PowerPoint</Application>
  <PresentationFormat>Widescreen</PresentationFormat>
  <Paragraphs>179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Income Prediction binary classification</vt:lpstr>
      <vt:lpstr>Outline</vt:lpstr>
      <vt:lpstr>Introduction</vt:lpstr>
      <vt:lpstr>Introduction: A peek into the data</vt:lpstr>
      <vt:lpstr>Data Analysis (steps)</vt:lpstr>
      <vt:lpstr>Variable Identification</vt:lpstr>
      <vt:lpstr>Missing values and data cleaning</vt:lpstr>
      <vt:lpstr>Univariate EDA</vt:lpstr>
      <vt:lpstr>Univariate EDA: barplot for categorical features, example</vt:lpstr>
      <vt:lpstr>Univariate EDA: histogram for numerical features, example</vt:lpstr>
      <vt:lpstr>Univariate EDA: observations</vt:lpstr>
      <vt:lpstr>Bivariate EDA</vt:lpstr>
      <vt:lpstr>Bivariate EDA: heatmap of correlation</vt:lpstr>
      <vt:lpstr>Bivariate EDA: heatmap for chi-2 test</vt:lpstr>
      <vt:lpstr>Bivariate EDA: heatmap for chi-2 test</vt:lpstr>
      <vt:lpstr>Feature Engineering &amp; Selection Ideas</vt:lpstr>
      <vt:lpstr>Modelling (XGBoost)</vt:lpstr>
      <vt:lpstr>Modelling (XGBoost): Our approach to hyperparameter optimization</vt:lpstr>
      <vt:lpstr>Modelling (XGBoost): train, test, cross-validation auc</vt:lpstr>
      <vt:lpstr>Modelling (XGBoost): feature importance</vt:lpstr>
      <vt:lpstr>Modelling (XGBoost): model performance</vt:lpstr>
      <vt:lpstr>Modelling (XGBoost): categorical features dummy encoded </vt:lpstr>
      <vt:lpstr>Modelling (XGBoost): categorical features dummy encoded </vt:lpstr>
      <vt:lpstr>Modelling (XGBoost): categorical features dummy encoded, selecting features</vt:lpstr>
      <vt:lpstr>Neural Network: Dummy features with omitted features from the XGBoost results </vt:lpstr>
      <vt:lpstr>Neural Network: Dummy features with omitted features from the XGBoost results </vt:lpstr>
      <vt:lpstr>Neural Network: Dummy features with omitted features from the XGBoost results </vt:lpstr>
      <vt:lpstr>Next steps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Task from idealo GmbH</dc:title>
  <dc:creator>babak85</dc:creator>
  <cp:lastModifiedBy>babak85</cp:lastModifiedBy>
  <cp:revision>97</cp:revision>
  <cp:lastPrinted>2020-03-16T02:15:38Z</cp:lastPrinted>
  <dcterms:created xsi:type="dcterms:W3CDTF">2020-03-14T23:02:32Z</dcterms:created>
  <dcterms:modified xsi:type="dcterms:W3CDTF">2020-04-28T08:45:49Z</dcterms:modified>
</cp:coreProperties>
</file>